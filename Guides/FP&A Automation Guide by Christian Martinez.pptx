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E7796"/>
                </a:solidFill>
                <a:latin typeface="Calibri"/>
              </a:defRPr>
            </a:pPr>
            <a:r>
              <a:rPr lang="es-MX" sz="1300" b="0" i="0" u="none" strike="noStrike">
                <a:solidFill>
                  <a:srgbClr val="6E7796"/>
                </a:solidFill>
                <a:latin typeface="Calibri"/>
              </a:rPr>
              <a:t>Hours per close, illustrative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today</c:v>
                </c:pt>
              </c:strCache>
            </c:strRef>
          </c:tx>
          <c:spPr>
            <a:solidFill>
              <a:srgbClr val="2230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3050"/>
                    </a:solidFill>
                    <a:latin typeface="Calibri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Data prep</c:v>
                </c:pt>
                <c:pt idx="1">
                  <c:v>PVM bridge</c:v>
                </c:pt>
                <c:pt idx="2">
                  <c:v>Variance notes</c:v>
                </c:pt>
                <c:pt idx="3">
                  <c:v>Pack build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E3-4A15-A9B1-1E6BDBABC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plugin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3050"/>
                    </a:solidFill>
                    <a:latin typeface="Calibri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Data prep</c:v>
                </c:pt>
                <c:pt idx="1">
                  <c:v>PVM bridge</c:v>
                </c:pt>
                <c:pt idx="2">
                  <c:v>Variance notes</c:v>
                </c:pt>
                <c:pt idx="3">
                  <c:v>Pack build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E3-4A15-A9B1-1E6BDBABCC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05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DCE3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7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305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48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bottleneck in finance automation is almost never the model. It is that nobody has written down where the data lives and how the numbers are actually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seven step blueprint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one and two are the ones teams skip, and they are the ones that decide whether the rest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answer is Snowflake, the architecture is simple. If the answer is thirty workbooks, go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can do this discovery with you: point it at the workbooks and ask it to profile every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cannot write the SOP, the process is not ready to automate. This step usually surfaces two or three metrics nobody agrees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 set depends entirely on your process. PVM is an example, yours might be allocations, headcount or cash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handover contract between agents is the part people forget. Be explicit about what each one is allowed to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 belongs in the skill files, not in ad hoc chat instructions. Otherwise the fix disappears next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turns a demo into something the controller will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AUTOMATION PLAYBOOK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End to End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Automations in FP&amp;A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1005840" cy="3200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Excel tabs to an audited, agent run reporting process. Seven steps, four prompts, one plugin your team actually uses.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0" y="14173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8412480" y="198424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8412480" y="2551176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8412480" y="3118104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8412480" y="36850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8412480" y="425196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8412480" y="4818888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 txBox="1"/>
          <p:nvPr/>
        </p:nvSpPr>
        <p:spPr>
          <a:xfrm>
            <a:off x="841248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 OUTPUT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most finance automations stall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 is rarely the model. It is undocumented logic sitting in files nobody has mapped.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 txBox="1"/>
          <p:nvPr/>
        </p:nvSpPr>
        <p:spPr>
          <a:xfrm>
            <a:off x="960120" y="2057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in a typical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workbook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11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or three carry the data that matters.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53128" y="18288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 txBox="1"/>
          <p:nvPr/>
        </p:nvSpPr>
        <p:spPr>
          <a:xfrm>
            <a:off x="4773168" y="2057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2971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definitions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key metrics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3611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lives in a formula bar and in one person's head.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8288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 txBox="1"/>
          <p:nvPr/>
        </p:nvSpPr>
        <p:spPr>
          <a:xfrm>
            <a:off x="8586216" y="2057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586216" y="2971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work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586216" y="3611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paste, reconcile, rebuild the same deck again.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 txBox="1"/>
          <p:nvPr/>
        </p:nvSpPr>
        <p:spPr>
          <a:xfrm>
            <a:off x="1097280" y="5029200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is not a bigger prompt.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41324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repeatable build: map the data, write the logic down, package it as skills, wrap it in an agent, and audit every run.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step blueprint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deliverable, not an idea. You should be able to point at the artifact it produced.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1452" y="1783080"/>
            <a:ext cx="248716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915772" y="2075688"/>
            <a:ext cx="493776" cy="493776"/>
          </a:xfrm>
          <a:prstGeom prst="ellipse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 txBox="1"/>
          <p:nvPr/>
        </p:nvSpPr>
        <p:spPr>
          <a:xfrm>
            <a:off x="915772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5772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Locate the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5772" y="31363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data lake or Excel sprawl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8660" y="1783080"/>
            <a:ext cx="248716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3722980" y="2075688"/>
            <a:ext cx="493776" cy="493776"/>
          </a:xfrm>
          <a:prstGeom prst="ellipse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 txBox="1"/>
          <p:nvPr/>
        </p:nvSpPr>
        <p:spPr>
          <a:xfrm>
            <a:off x="3722980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229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logic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22980" y="31363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SOP of metrics and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1783080"/>
            <a:ext cx="248716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6530188" y="2075688"/>
            <a:ext cx="493776" cy="493776"/>
          </a:xfrm>
          <a:prstGeom prst="ellipse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6530188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skills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31363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per skill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63076" y="1783080"/>
            <a:ext cx="248716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9337396" y="2075688"/>
            <a:ext cx="493776" cy="493776"/>
          </a:xfrm>
          <a:prstGeom prst="ellipse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 txBox="1"/>
          <p:nvPr/>
        </p:nvSpPr>
        <p:spPr>
          <a:xfrm>
            <a:off x="9337396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37396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 plugin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37396" y="31363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plus agents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45056" y="4343400"/>
            <a:ext cx="248716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2319376" y="4636008"/>
            <a:ext cx="493776" cy="493776"/>
          </a:xfrm>
          <a:prstGeom prst="ellipse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 txBox="1"/>
          <p:nvPr/>
        </p:nvSpPr>
        <p:spPr>
          <a:xfrm>
            <a:off x="2319376" y="4636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319376" y="5303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and iterate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2319376" y="569671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closed periods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52264" y="4343400"/>
            <a:ext cx="248716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5126584" y="4636008"/>
            <a:ext cx="493776" cy="493776"/>
          </a:xfrm>
          <a:prstGeom prst="ellipse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 txBox="1"/>
          <p:nvPr/>
        </p:nvSpPr>
        <p:spPr>
          <a:xfrm>
            <a:off x="5126584" y="4636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26584" y="5303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audit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126584" y="569671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must pass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59472" y="4343400"/>
            <a:ext cx="2487168" cy="2057400"/>
          </a:xfrm>
          <a:prstGeom prst="roundRect">
            <a:avLst>
              <a:gd name="adj" fmla="val 4444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7933792" y="4636008"/>
            <a:ext cx="493776" cy="49377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 txBox="1"/>
          <p:nvPr/>
        </p:nvSpPr>
        <p:spPr>
          <a:xfrm>
            <a:off x="7933792" y="4636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933792" y="5303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the output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933792" y="569671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deck or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out where your data actually lives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else, name the system of record for every number in the pack.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932688" y="1874520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 txBox="1"/>
          <p:nvPr/>
        </p:nvSpPr>
        <p:spPr>
          <a:xfrm>
            <a:off x="932688" y="187452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33172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system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67919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Oracle, NetSuite, Dynamics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108960"/>
            <a:ext cx="2706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and governed, but slow to open 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 access to the tables behind the reports, not the exported reports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posting period logic and the FX rates 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53128" y="160020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4745736" y="1874520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 txBox="1"/>
          <p:nvPr/>
        </p:nvSpPr>
        <p:spPr>
          <a:xfrm>
            <a:off x="4745736" y="187452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233172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 or warehouse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267919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Databricks, BigQuery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3108960"/>
            <a:ext cx="2706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genuinely lives in Snowflake, run Cortex there and put Claude on top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heavy compute next to the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handles the reasoning, the narrative and the output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66176" y="160020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8558784" y="1874520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8558784" y="187452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558784" y="233172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and file sprawl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58784" y="267919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shared drives, inboxes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58784" y="3108960"/>
            <a:ext cx="2706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reality in FP&amp;A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queryable until you map 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step one takes real work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 txBox="1"/>
          <p:nvPr/>
        </p:nvSpPr>
        <p:spPr>
          <a:xfrm>
            <a:off x="1097280" y="512064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against the source of truth, never against somebody's copy of a copy.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lives in Excel, drill down to the table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workbook is not a data source. A specific table on a specific tab 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 txBox="1"/>
          <p:nvPr/>
        </p:nvSpPr>
        <p:spPr>
          <a:xfrm>
            <a:off x="1234440" y="1856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workbook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twenty tabs, half of them formatting, notes or old versions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10800000">
            <a:off x="3520440" y="2907792"/>
            <a:ext cx="274320" cy="201168"/>
          </a:xfrm>
          <a:prstGeom prst="triangle">
            <a:avLst/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1463040" y="3154680"/>
            <a:ext cx="4389120" cy="1143000"/>
          </a:xfrm>
          <a:prstGeom prst="roundRect">
            <a:avLst>
              <a:gd name="adj" fmla="val 8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 txBox="1"/>
          <p:nvPr/>
        </p:nvSpPr>
        <p:spPr>
          <a:xfrm>
            <a:off x="1783080" y="3319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tabs that matter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two or three: the raw extract and the mapping 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10800000">
            <a:off x="3520440" y="4370832"/>
            <a:ext cx="274320" cy="201168"/>
          </a:xfrm>
          <a:prstGeom prst="triangle">
            <a:avLst/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2011680" y="46177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 txBox="1"/>
          <p:nvPr/>
        </p:nvSpPr>
        <p:spPr>
          <a:xfrm>
            <a:off x="2331720" y="4782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tables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5120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ranges, real headers, keys, the rows that feed every metric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1691640"/>
            <a:ext cx="4507992" cy="4343400"/>
          </a:xfrm>
          <a:prstGeom prst="roundRect">
            <a:avLst>
              <a:gd name="adj" fmla="val 2105"/>
            </a:avLst>
          </a:prstGeom>
          <a:solidFill>
            <a:srgbClr val="F2F5FB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 txBox="1"/>
          <p:nvPr/>
        </p:nvSpPr>
        <p:spPr>
          <a:xfrm>
            <a:off x="736092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this for every file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24688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tabs are inputs and which are just presentation?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table start and end, and are the headers real?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 are the keys that let files join together?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typed in by hand every month?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refreshes it, how often, and what breaks when they are on leave?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60920" y="5074920"/>
            <a:ext cx="386791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 txBox="1"/>
          <p:nvPr/>
        </p:nvSpPr>
        <p:spPr>
          <a:xfrm>
            <a:off x="7589520" y="50749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profile every tab for you and draft this map in one pass.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72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step one: a one page map of files, tabs, tables and owners.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down the calculations before you build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ontology and the SOP are the real asset. The code is downstream of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 txBox="1"/>
          <p:nvPr/>
        </p:nvSpPr>
        <p:spPr>
          <a:xfrm>
            <a:off x="100584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calculation layer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542032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 txBox="1"/>
          <p:nvPr/>
        </p:nvSpPr>
        <p:spPr>
          <a:xfrm>
            <a:off x="100584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61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customer, entity, cost centre, period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0712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 txBox="1"/>
          <p:nvPr/>
        </p:nvSpPr>
        <p:spPr>
          <a:xfrm>
            <a:off x="1005840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30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revenue, gross margin, price, volume, mix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4279392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 txBox="1"/>
          <p:nvPr/>
        </p:nvSpPr>
        <p:spPr>
          <a:xfrm>
            <a:off x="100584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498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mapping, FX conversion, allocations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5148072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 txBox="1"/>
          <p:nvPr/>
        </p:nvSpPr>
        <p:spPr>
          <a:xfrm>
            <a:off x="1005840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367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conventions, rounding, restated periods, thresholds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1691640"/>
            <a:ext cx="5468112" cy="4389120"/>
          </a:xfrm>
          <a:prstGeom prst="roundRect">
            <a:avLst>
              <a:gd name="adj" fmla="val 2083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6336792" y="196596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6501384" y="196596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6665976" y="196596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 txBox="1"/>
          <p:nvPr/>
        </p:nvSpPr>
        <p:spPr>
          <a:xfrm>
            <a:off x="6903720" y="1874520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BUILD THE SOP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36792" y="2313432"/>
            <a:ext cx="495604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helping me document an FP&amp;A process.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are the source files and the tabs that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matter. For every metric in the monthly pack,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the definition, the source columns, the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formula, the filters, the FX and rounding rules,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checks that prove it is right.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 markdown SOP with one section per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metric. Flag every assumption you had to make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every place the files disagree.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list the metrics where you need a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from me before we go further.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each calculation as a Claude Skill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skill, one job. A skill is your SOP written so an agent can follow it every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914400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 txBox="1"/>
          <p:nvPr/>
        </p:nvSpPr>
        <p:spPr>
          <a:xfrm>
            <a:off x="9144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0428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data-cleaning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33472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mapped tabs, fixes headers, types and duplicates, returns a clean table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47288" y="155448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3721608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 txBox="1"/>
          <p:nvPr/>
        </p:nvSpPr>
        <p:spPr>
          <a:xfrm>
            <a:off x="372160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230428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pvm-bridge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2633472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revenue movement into price, volume and mix with your sign conventions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155448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6528816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 txBox="1"/>
          <p:nvPr/>
        </p:nvSpPr>
        <p:spPr>
          <a:xfrm>
            <a:off x="652881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230428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variance-analysis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2633472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actuals to budget and forecast, ranks drivers, drafts the commentary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61704" y="155448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9336024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 txBox="1"/>
          <p:nvPr/>
        </p:nvSpPr>
        <p:spPr>
          <a:xfrm>
            <a:off x="933602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36024" y="230428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output-pack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633472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results into the house template so every run looks identical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6675120" cy="2286000"/>
          </a:xfrm>
          <a:prstGeom prst="roundRect">
            <a:avLst>
              <a:gd name="adj" fmla="val 400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896112" y="425196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1060704" y="425196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1225296" y="425196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 txBox="1"/>
          <p:nvPr/>
        </p:nvSpPr>
        <p:spPr>
          <a:xfrm>
            <a:off x="1463040" y="41605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TURN THE SOP INTO A SKILL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599432"/>
            <a:ext cx="6163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this SOP section into a Claude Skill. Write SKILL.md with: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to use it, the exact steps, the column names it expects,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worked example with sample numbers, the edge cases, and the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checks it must run before it returns anything.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to one job. Do not fold cleaning and analysis together.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89520" y="3977640"/>
            <a:ext cx="3959352" cy="2286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 txBox="1"/>
          <p:nvPr/>
        </p:nvSpPr>
        <p:spPr>
          <a:xfrm>
            <a:off x="7882128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skills and not one big prompt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882128" y="45720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every entity and period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by finance, not just by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Fixable in one place when a rule changes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the skills into a plugin with agents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 is what your team installs. The agents are what decide which skill runs when.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 txBox="1"/>
          <p:nvPr/>
        </p:nvSpPr>
        <p:spPr>
          <a:xfrm>
            <a:off x="1005840" y="1874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finance-close-plugin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317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269748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 txBox="1"/>
          <p:nvPr/>
        </p:nvSpPr>
        <p:spPr>
          <a:xfrm>
            <a:off x="1188720" y="26060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data-cleaning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86200" y="2606040"/>
            <a:ext cx="269748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4069080" y="26060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pvm-bridge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3172968"/>
            <a:ext cx="269748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 txBox="1"/>
          <p:nvPr/>
        </p:nvSpPr>
        <p:spPr>
          <a:xfrm>
            <a:off x="1188720" y="31729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variance-analysis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86200" y="3172968"/>
            <a:ext cx="269748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4069080" y="31729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output-pack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8862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4187952"/>
            <a:ext cx="5669280" cy="512064"/>
          </a:xfrm>
          <a:prstGeom prst="roundRect">
            <a:avLst>
              <a:gd name="adj" fmla="val 16071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 txBox="1"/>
          <p:nvPr/>
        </p:nvSpPr>
        <p:spPr>
          <a:xfrm>
            <a:off x="1234440" y="41879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agent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1879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cleans the mapped tabs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4809744"/>
            <a:ext cx="5669280" cy="512064"/>
          </a:xfrm>
          <a:prstGeom prst="roundRect">
            <a:avLst>
              <a:gd name="adj" fmla="val 16071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1234440" y="48097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8097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PVM and variance, checks totals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5431536"/>
            <a:ext cx="5669280" cy="512064"/>
          </a:xfrm>
          <a:prstGeom prst="roundRect">
            <a:avLst>
              <a:gd name="adj" fmla="val 16071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 txBox="1"/>
          <p:nvPr/>
        </p:nvSpPr>
        <p:spPr>
          <a:xfrm>
            <a:off x="1234440" y="54315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agent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54315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pack and the commentary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60920" y="1645920"/>
            <a:ext cx="4187952" cy="4434840"/>
          </a:xfrm>
          <a:prstGeom prst="roundRect">
            <a:avLst>
              <a:gd name="adj" fmla="val 2183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7616952" y="192024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7781544" y="192024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7946136" y="192024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 txBox="1"/>
          <p:nvPr/>
        </p:nvSpPr>
        <p:spPr>
          <a:xfrm>
            <a:off x="8183880" y="18288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ASSEMBLE THE PLUGIN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6952" y="2267712"/>
            <a:ext cx="36758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these skills into a plugin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my finance team.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three agents: a data prep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that loads and cleans the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tabs, an analysis agent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runs the PVM and variance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skills, and a reporting agent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writes the output.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agent define what it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owns, what it hands over, and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it must stop and ask me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guessing.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it, then iterate until it is boring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against periods you have already signed off. You know the right answer, so every gap is a defect you can fix.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223066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 txBox="1"/>
          <p:nvPr/>
        </p:nvSpPr>
        <p:spPr>
          <a:xfrm>
            <a:off x="91440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871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Rerun a closed period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90672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plugin at last quarter and let it produce the full pack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47288" y="169164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223066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3721608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24871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line by line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3090672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against the signed off numbers, not against your expectations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54496" y="169164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223066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 txBox="1"/>
          <p:nvPr/>
        </p:nvSpPr>
        <p:spPr>
          <a:xfrm>
            <a:off x="6528816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4871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every break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090672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mapping, wrong sign, missing filter, silent rounding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741664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61704" y="169164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223066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9336024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336024" y="24871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the skill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336024" y="3090672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instruction in the skill so it never happens again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10911535" cy="1508760"/>
          </a:xfrm>
          <a:prstGeom prst="roundRect">
            <a:avLst>
              <a:gd name="adj" fmla="val 6061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 txBox="1"/>
          <p:nvPr/>
        </p:nvSpPr>
        <p:spPr>
          <a:xfrm>
            <a:off x="10972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560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consecutive closed periods reproduced with no manual correction, by someone who did not build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 audit layer you can defend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output needs proof, not confidence. Make the checks part of the run.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00" cy="4434840"/>
          </a:xfrm>
          <a:prstGeom prst="roundRect">
            <a:avLst>
              <a:gd name="adj" fmla="val 2062"/>
            </a:avLst>
          </a:prstGeom>
          <a:solidFill>
            <a:srgbClr val="F2F5FB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 txBox="1"/>
          <p:nvPr/>
        </p:nvSpPr>
        <p:spPr>
          <a:xfrm>
            <a:off x="100584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2037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the raw source and tie back to the extract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78892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100584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743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0266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the ERP trial balance before anything is released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61188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10058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8496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line moving beyond the tolerance you 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443484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 txBox="1"/>
          <p:nvPr/>
        </p:nvSpPr>
        <p:spPr>
          <a:xfrm>
            <a:off x="100584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6725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versions, timestamps and skill used, saved every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525780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 txBox="1"/>
          <p:nvPr/>
        </p:nvSpPr>
        <p:spPr>
          <a:xfrm>
            <a:off x="100584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5212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 off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495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reviewer approves before the pack is distributed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60920" y="1645920"/>
            <a:ext cx="4187952" cy="4434840"/>
          </a:xfrm>
          <a:prstGeom prst="roundRect">
            <a:avLst>
              <a:gd name="adj" fmla="val 2183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7616952" y="192024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7781544" y="192024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7946136" y="1920240"/>
            <a:ext cx="100584" cy="100584"/>
          </a:xfrm>
          <a:prstGeom prst="ellipse">
            <a:avLst/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 txBox="1"/>
          <p:nvPr/>
        </p:nvSpPr>
        <p:spPr>
          <a:xfrm>
            <a:off x="8183880" y="18288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BUILD THE AUDIT SKILL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6952" y="2267712"/>
            <a:ext cx="36758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an audit skill to this plugin.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any output is released it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must: recompute the totals from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raw source, reconcile to the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 balance, flag every line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moving more than the threshold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set, and write an audit note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 each check, its result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numbers compared.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 check fails, stop and tell me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broke. Never produce the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 on failed checks.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the output in the shape people use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9144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backwards from the artifact. The last mile is where the time is actually saved.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932688" y="1920240"/>
            <a:ext cx="2706624" cy="1417320"/>
          </a:xfrm>
          <a:prstGeom prst="roundRect">
            <a:avLst>
              <a:gd name="adj" fmla="val 5161"/>
            </a:avLst>
          </a:prstGeom>
          <a:solidFill>
            <a:srgbClr val="F2F5FB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1143000" y="2194560"/>
            <a:ext cx="1645920" cy="118872"/>
          </a:xfrm>
          <a:prstGeom prst="roundRect">
            <a:avLst>
              <a:gd name="adj" fmla="val 46154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1143000" y="2487168"/>
            <a:ext cx="2286000" cy="118872"/>
          </a:xfrm>
          <a:prstGeom prst="roundRect">
            <a:avLst>
              <a:gd name="adj" fmla="val 46154"/>
            </a:avLst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1143000" y="2779776"/>
            <a:ext cx="2286000" cy="118872"/>
          </a:xfrm>
          <a:prstGeom prst="roundRect">
            <a:avLst>
              <a:gd name="adj" fmla="val 46154"/>
            </a:avLst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1143000" y="3072384"/>
            <a:ext cx="1371600" cy="118872"/>
          </a:xfrm>
          <a:prstGeom prst="roundRect">
            <a:avLst>
              <a:gd name="adj" fmla="val 46154"/>
            </a:avLst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932688" y="352044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93192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the update with the numbers, the drivers and the ask, ready to send.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53128" y="164592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4745736" y="1920240"/>
            <a:ext cx="2706624" cy="1417320"/>
          </a:xfrm>
          <a:prstGeom prst="roundRect">
            <a:avLst>
              <a:gd name="adj" fmla="val 5161"/>
            </a:avLst>
          </a:prstGeom>
          <a:solidFill>
            <a:srgbClr val="223066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4956048" y="2148840"/>
            <a:ext cx="1280160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4956048" y="2423160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6144768" y="2423160"/>
            <a:ext cx="1051560" cy="685800"/>
          </a:xfrm>
          <a:prstGeom prst="roundRect">
            <a:avLst>
              <a:gd name="adj" fmla="val 80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 txBox="1"/>
          <p:nvPr/>
        </p:nvSpPr>
        <p:spPr>
          <a:xfrm>
            <a:off x="4745736" y="352044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745736" y="393192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builds the monthly pack straight into your template, every period the same.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66176" y="164592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8558784" y="1920240"/>
            <a:ext cx="2706624" cy="1417320"/>
          </a:xfrm>
          <a:prstGeom prst="roundRect">
            <a:avLst>
              <a:gd name="adj" fmla="val 5161"/>
            </a:avLst>
          </a:prstGeom>
          <a:solidFill>
            <a:srgbClr val="F2F5FB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8769096" y="2670048"/>
            <a:ext cx="292608" cy="457200"/>
          </a:xfrm>
          <a:prstGeom prst="roundRect">
            <a:avLst>
              <a:gd name="adj" fmla="val 125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9226296" y="2350008"/>
            <a:ext cx="292608" cy="777240"/>
          </a:xfrm>
          <a:prstGeom prst="roundRect">
            <a:avLst>
              <a:gd name="adj" fmla="val 125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9683496" y="2807208"/>
            <a:ext cx="292608" cy="320040"/>
          </a:xfrm>
          <a:prstGeom prst="roundRect">
            <a:avLst>
              <a:gd name="adj" fmla="val 125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10140696" y="2487168"/>
            <a:ext cx="292608" cy="640080"/>
          </a:xfrm>
          <a:prstGeom prst="roundRect">
            <a:avLst>
              <a:gd name="adj" fmla="val 12500"/>
            </a:avLst>
          </a:prstGeom>
          <a:solidFill>
            <a:srgbClr val="2E3E7E"/>
          </a:solidFill>
          <a:ln w="12700">
            <a:solidFill>
              <a:srgbClr val="2E3E7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10597896" y="2212848"/>
            <a:ext cx="292608" cy="91440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 txBox="1"/>
          <p:nvPr/>
        </p:nvSpPr>
        <p:spPr>
          <a:xfrm>
            <a:off x="8558784" y="352044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8558784" y="393192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generates an HTML dashboard your stakeholders can open and filter.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three endings. The agent decides the format, the audit decides whether it is allowed to send.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 on one monthly pack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pack for a multi entity business: four workbooks, one ERP extract, one PVM bridge.</a:t>
            </a:r>
            <a:endParaRPr lang="en-US" sz="14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6492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4050792" cy="1143000"/>
          </a:xfrm>
          <a:prstGeom prst="roundRect">
            <a:avLst>
              <a:gd name="adj" fmla="val 8000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 txBox="1"/>
          <p:nvPr/>
        </p:nvSpPr>
        <p:spPr>
          <a:xfrm>
            <a:off x="7818120" y="1856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to 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close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108960"/>
            <a:ext cx="4050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 txBox="1"/>
          <p:nvPr/>
        </p:nvSpPr>
        <p:spPr>
          <a:xfrm>
            <a:off x="7818120" y="3227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runs reconciled and logged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98080" y="4480560"/>
            <a:ext cx="4050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Text 9"/>
          <p:cNvSpPr txBox="1"/>
          <p:nvPr/>
        </p:nvSpPr>
        <p:spPr>
          <a:xfrm>
            <a:off x="7818120" y="4599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owner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5166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tribal knowledge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58521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and depend on the process you automate.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 week path to the first live process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pack that runs every month and hurts. Do not start with the whole function.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188720" y="2331720"/>
            <a:ext cx="9814255" cy="36576"/>
          </a:xfrm>
          <a:prstGeom prst="rect">
            <a:avLst/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746504" y="2212848"/>
            <a:ext cx="274320" cy="274320"/>
          </a:xfrm>
          <a:prstGeom prst="ellipse">
            <a:avLst/>
          </a:prstGeom>
          <a:solidFill>
            <a:srgbClr val="223066"/>
          </a:solidFill>
          <a:ln w="381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the data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2336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tabs, tables and owners on one 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2212848"/>
            <a:ext cx="274320" cy="274320"/>
          </a:xfrm>
          <a:prstGeom prst="ellipse">
            <a:avLst/>
          </a:prstGeom>
          <a:solidFill>
            <a:srgbClr val="223066"/>
          </a:solidFill>
          <a:ln w="381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3447288" y="27432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 txBox="1"/>
          <p:nvPr/>
        </p:nvSpPr>
        <p:spPr>
          <a:xfrm>
            <a:off x="3721608" y="29992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SOP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402336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defined, every rule agreed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212848"/>
            <a:ext cx="274320" cy="274320"/>
          </a:xfrm>
          <a:prstGeom prst="ellipse">
            <a:avLst/>
          </a:prstGeom>
          <a:solidFill>
            <a:srgbClr val="223066"/>
          </a:solidFill>
          <a:ln w="381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6254496" y="27432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 txBox="1"/>
          <p:nvPr/>
        </p:nvSpPr>
        <p:spPr>
          <a:xfrm>
            <a:off x="6528816" y="29992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to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23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skills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402336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first, then the calculation skills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68128" y="2212848"/>
            <a:ext cx="274320" cy="27432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2F5F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9061704" y="27432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223066"/>
          </a:solidFill>
          <a:ln w="12700">
            <a:solidFill>
              <a:srgbClr val="223066"/>
            </a:solidFill>
            <a:prstDash val="solid"/>
          </a:ln>
          <a:effectLst>
            <a:outerShdw blurRad="1778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 txBox="1"/>
          <p:nvPr/>
        </p:nvSpPr>
        <p:spPr>
          <a:xfrm>
            <a:off x="9336024" y="29992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 to 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36024" y="333756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Plugin, audit, ship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336024" y="402336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wired, checks passing, first live run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sits with finance. Engineering is a reviewer, not the bottleneck.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pack,</a:t>
            </a:r>
            <a:endParaRPr lang="en-US" sz="3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function.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651760"/>
            <a:ext cx="1005840" cy="3200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3035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first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456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system of record before you write a line of logic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3035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in writing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3456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 be written as an SOP, it cannot be automated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skills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50566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each, reviewable by the people who own the number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always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50566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check, no send. That is what makes it usable in finance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was never the model. It was the map.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1969</Words>
  <Application>Microsoft Office PowerPoint</Application>
  <PresentationFormat>Widescreen</PresentationFormat>
  <Paragraphs>296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 to End Automation in FP&amp;A with Claude</dc:title>
  <dc:subject>PptxGenJS Presentation</dc:subject>
  <dc:creator>FP&amp;A Automation Playbook</dc:creator>
  <cp:lastModifiedBy>Christian M</cp:lastModifiedBy>
  <cp:revision>2</cp:revision>
  <dcterms:created xsi:type="dcterms:W3CDTF">2026-09-08T06:53:55Z</dcterms:created>
  <dcterms:modified xsi:type="dcterms:W3CDTF">2026-09-10T17:47:01Z</dcterms:modified>
</cp:coreProperties>
</file>